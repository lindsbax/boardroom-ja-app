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1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($k)</c:v>
                </c:pt>
              </c:strCache>
            </c:strRef>
          </c:tx>
          <c:spPr>
            <a:solidFill>
              <a:srgbClr val="C9A227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Year 1</c:v>
                  </c:pt>
                  <c:pt idx="1">
                    <c:v>Year 2</c:v>
                  </c:pt>
                  <c:pt idx="2">
                    <c:v>Year 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</c:v>
                </c:pt>
                <c:pt idx="1">
                  <c:v>180</c:v>
                </c:pt>
                <c:pt idx="2">
                  <c:v>420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9525" cap="flat">
              <a:solidFill>
                <a:srgbClr val="1C3A5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C9C2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bracketed text with your company name and one-sentence value proposition. Keep the tagline to under 12 words — this is the line investors remember.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Use real evidence where possible — a stat, a quote from a customer interview, or a market data point. Three problem points is usually enough; don't pad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Each card should map directly to one of the three problem points on the previous slide. Keep the benefit headline outcome-focused, not feature-focused.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this for a real product screenshot or diagram if you have one — a visual always beats three text steps for a live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Cite your source for every market figure — investors will ask. Bottom-up sizing (price x realistic customer count) is usually more credible than a single top-down industry report figure.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List every meaningful revenue stream, even small ones — it signals a thought-through model. If pricing is tiered, note the range rather than every tier.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use metrics that trend in the right direction. If a number is early-stage or small, frame it with context (e.g. growth rate) rather than hiding 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Label the two axes with what actually matters to your buyer — e.g. 'Price' vs 'Local expertise'. Avoid a feature checklist; a positioning map reads as more strategic.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 specific about channels — 'social media' is weak, 'partnership referrals from JBDC + targeted LinkedIn outreach to HR Directors' is strong.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Swap the placeholder circle for real headshots. Advisors or key hires can go here too if they add credibility — keep each bio to one line.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Replace the sample chart values with your own 3-year projection. Keep assumptions realistic and be ready to defend every number — this is the slide investors probe hardest.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Tie the raise directly to a milestone, not just a runway length. 'Raising $X to reach Y' is more compelling than 'Raising $X for 18 months of runway.'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contact details large and legible — this is the slide people photograph at the end of a pitch.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33172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COMPANY NAME ]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2788920"/>
            <a:ext cx="9601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one-line pitch that makes an investor lean in.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16052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Seed Round  ·  [Month Year]  ·  [Founder Name], Founder &amp; CEO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822960" y="2148840"/>
            <a:ext cx="1005840" cy="0"/>
          </a:xfrm>
          <a:prstGeom prst="line">
            <a:avLst/>
          </a:prstGeom>
          <a:noFill/>
          <a:ln w="25400">
            <a:solidFill>
              <a:srgbClr val="C9A227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Name the problem in one sharp sentence 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28600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554480" y="233172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Who feels this problem, and how often? ]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40080" y="35204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54480" y="356616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What do they do today instead — and why is it inadequate? ]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640080" y="475488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1554480" y="4800600"/>
            <a:ext cx="9509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What is this costing them — time, money, opportunity? ]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What you built, in one sentence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286000"/>
            <a:ext cx="3566160" cy="2926080"/>
          </a:xfrm>
          <a:prstGeom prst="rect">
            <a:avLst/>
          </a:prstGeom>
          <a:solidFill>
            <a:srgbClr val="142A40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Benefit 1 ]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D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 on how it works ]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4343400" y="2286000"/>
            <a:ext cx="3566160" cy="2926080"/>
          </a:xfrm>
          <a:prstGeom prst="rect">
            <a:avLst/>
          </a:prstGeom>
          <a:solidFill>
            <a:srgbClr val="142A40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Benefit 2 ]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61772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D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 on how it works ]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138160" y="2286000"/>
            <a:ext cx="3566160" cy="2926080"/>
          </a:xfrm>
          <a:prstGeom prst="rect">
            <a:avLst/>
          </a:prstGeom>
          <a:solidFill>
            <a:srgbClr val="142A40"/>
          </a:solidFill>
          <a:ln/>
        </p:spPr>
      </p:sp>
      <p:sp>
        <p:nvSpPr>
          <p:cNvPr id="11" name="Text 9"/>
          <p:cNvSpPr/>
          <p:nvPr/>
        </p:nvSpPr>
        <p:spPr>
          <a:xfrm>
            <a:off x="8412480" y="2560320"/>
            <a:ext cx="3017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Benefit 3 ]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412480" y="3200400"/>
            <a:ext cx="3017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E4D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 on how it works ]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How it works — three steps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3774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3063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Step one ]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502920" y="3566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Short supporting detail for this step ]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3931920" y="2624328"/>
            <a:ext cx="457200" cy="0"/>
          </a:xfrm>
          <a:prstGeom prst="line">
            <a:avLst/>
          </a:prstGeom>
          <a:noFill/>
          <a:ln w="19050">
            <a:solidFill>
              <a:srgbClr val="C9C2B4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>
            <a:off x="4526280" y="23774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45262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389120" y="3063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Step two ]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389120" y="3566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Short supporting detail for this step ]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7818120" y="2624328"/>
            <a:ext cx="457200" cy="0"/>
          </a:xfrm>
          <a:prstGeom prst="line">
            <a:avLst/>
          </a:prstGeom>
          <a:noFill/>
          <a:ln w="19050">
            <a:solidFill>
              <a:srgbClr val="C9C2B4"/>
            </a:solidFill>
            <a:prstDash val="dash"/>
          </a:ln>
        </p:spPr>
      </p:sp>
      <p:sp>
        <p:nvSpPr>
          <p:cNvPr id="14" name="Shape 12"/>
          <p:cNvSpPr/>
          <p:nvPr/>
        </p:nvSpPr>
        <p:spPr>
          <a:xfrm>
            <a:off x="8412480" y="2377440"/>
            <a:ext cx="502920" cy="50292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8412480" y="23774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275320" y="306324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Step three ]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8275320" y="3566160"/>
            <a:ext cx="3383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Short supporting detail for this step ]</a:t>
            </a:r>
            <a:endParaRPr lang="en-US" sz="12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Why this market, why now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188720" y="1920240"/>
            <a:ext cx="4206240" cy="4206240"/>
          </a:xfrm>
          <a:prstGeom prst="ellipse">
            <a:avLst/>
          </a:prstGeom>
          <a:solidFill>
            <a:srgbClr val="142A40"/>
          </a:solidFill>
          <a:ln/>
        </p:spPr>
      </p:sp>
      <p:sp>
        <p:nvSpPr>
          <p:cNvPr id="5" name="Shape 3"/>
          <p:cNvSpPr/>
          <p:nvPr/>
        </p:nvSpPr>
        <p:spPr>
          <a:xfrm>
            <a:off x="1783080" y="2514600"/>
            <a:ext cx="3017520" cy="3017520"/>
          </a:xfrm>
          <a:prstGeom prst="ellipse">
            <a:avLst/>
          </a:prstGeom>
          <a:solidFill>
            <a:srgbClr val="1C3A54"/>
          </a:solidFill>
          <a:ln/>
        </p:spPr>
      </p:sp>
      <p:sp>
        <p:nvSpPr>
          <p:cNvPr id="6" name="Shape 4"/>
          <p:cNvSpPr/>
          <p:nvPr/>
        </p:nvSpPr>
        <p:spPr>
          <a:xfrm>
            <a:off x="2377440" y="3108960"/>
            <a:ext cx="1828800" cy="18288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7" name="Text 5"/>
          <p:cNvSpPr/>
          <p:nvPr/>
        </p:nvSpPr>
        <p:spPr>
          <a:xfrm>
            <a:off x="2377440" y="3566160"/>
            <a:ext cx="18288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 X ]M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589520" y="246888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TAM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595360" y="246888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 X ]M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7589520" y="292608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Total addressable 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589520" y="3520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SAM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8595360" y="3520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 X ]M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7589520" y="397764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Serviceable available market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7589520" y="457200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SOM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595360" y="457200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$[ X ]M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7589520" y="5029200"/>
            <a:ext cx="3931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Obtainable within 3 years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BUSINESS MODEL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How you make money ]</a:t>
            </a:r>
            <a:endParaRPr lang="en-US" sz="28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03120"/>
          <a:ext cx="11064240" cy="3108960"/>
        </p:xfrm>
        <a:graphic>
          <a:graphicData uri="http://schemas.openxmlformats.org/drawingml/2006/table">
            <a:tbl>
              <a:tblPr/>
              <a:tblGrid>
                <a:gridCol w="4114800"/>
                <a:gridCol w="3474720"/>
                <a:gridCol w="3474720"/>
              </a:tblGrid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Revenue Stream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Pricing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Target Customer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Stream 1 ]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$X / mo or unit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Segment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Stream 2 ]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$X / mo or unit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Segment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772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Stream 3 ]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$X / mo or unit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B1B2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[ Segment ]</a:t>
                      </a:r>
                      <a:endParaRPr lang="en-US" sz="14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9D2C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103120"/>
            <a:ext cx="11064240" cy="777240"/>
          </a:xfrm>
          <a:prstGeom prst="rect">
            <a:avLst/>
          </a:prstGeom>
          <a:solidFill>
            <a:srgbClr val="0B1B2B"/>
          </a:solidFill>
          <a:ln/>
        </p:spPr>
      </p:sp>
      <p:sp>
        <p:nvSpPr>
          <p:cNvPr id="6" name="Text 3"/>
          <p:cNvSpPr/>
          <p:nvPr/>
        </p:nvSpPr>
        <p:spPr>
          <a:xfrm>
            <a:off x="685800" y="2103120"/>
            <a:ext cx="39319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Stream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480060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Pricing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183880" y="210312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 Customer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TRACTION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Proof this is working 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54864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]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548640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Customers / Members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8328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$[ X ]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383280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to date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21792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]%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6217920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Month-on-month growth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9052560" y="2377440"/>
            <a:ext cx="26974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]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9052560" y="3337560"/>
            <a:ext cx="2514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partnerships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48640" y="4572000"/>
            <a:ext cx="1097280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Milestone timeline: launch → first customer → key partnership → today ]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Where you win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2011680"/>
            <a:ext cx="658368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9D2C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0" y="2011680"/>
            <a:ext cx="0" cy="4206240"/>
          </a:xfrm>
          <a:prstGeom prst="line">
            <a:avLst/>
          </a:prstGeom>
          <a:noFill/>
          <a:ln w="12700">
            <a:solidFill>
              <a:srgbClr val="D9D2C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4114800"/>
            <a:ext cx="6583680" cy="0"/>
          </a:xfrm>
          <a:prstGeom prst="line">
            <a:avLst/>
          </a:prstGeom>
          <a:noFill/>
          <a:ln w="12700">
            <a:solidFill>
              <a:srgbClr val="D9D2C4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22960" y="164592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Axis label ↑ 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6309360"/>
            <a:ext cx="6583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Axis label → 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63210" y="2937053"/>
            <a:ext cx="228600" cy="22860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5014570" y="3165653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2468880" y="3483864"/>
            <a:ext cx="228600" cy="228600"/>
          </a:xfrm>
          <a:prstGeom prst="ellipse">
            <a:avLst/>
          </a:prstGeom>
          <a:solidFill>
            <a:srgbClr val="7A1E3D"/>
          </a:solidFill>
          <a:ln/>
        </p:spPr>
      </p:sp>
      <p:sp>
        <p:nvSpPr>
          <p:cNvPr id="12" name="Text 10"/>
          <p:cNvSpPr/>
          <p:nvPr/>
        </p:nvSpPr>
        <p:spPr>
          <a:xfrm>
            <a:off x="1920240" y="371246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A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73168" y="4956048"/>
            <a:ext cx="228600" cy="228600"/>
          </a:xfrm>
          <a:prstGeom prst="ellipse">
            <a:avLst/>
          </a:prstGeom>
          <a:solidFill>
            <a:srgbClr val="114B3B"/>
          </a:solidFill>
          <a:ln/>
        </p:spPr>
      </p:sp>
      <p:sp>
        <p:nvSpPr>
          <p:cNvPr id="14" name="Text 12"/>
          <p:cNvSpPr/>
          <p:nvPr/>
        </p:nvSpPr>
        <p:spPr>
          <a:xfrm>
            <a:off x="4224528" y="518464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B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139696" y="5166360"/>
            <a:ext cx="228600" cy="228600"/>
          </a:xfrm>
          <a:prstGeom prst="ellipse">
            <a:avLst/>
          </a:prstGeom>
          <a:solidFill>
            <a:srgbClr val="6B6459"/>
          </a:solidFill>
          <a:ln/>
        </p:spPr>
      </p:sp>
      <p:sp>
        <p:nvSpPr>
          <p:cNvPr id="16" name="Text 14"/>
          <p:cNvSpPr/>
          <p:nvPr/>
        </p:nvSpPr>
        <p:spPr>
          <a:xfrm>
            <a:off x="1591056" y="539496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Competitor C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772400" y="2103120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Your Edge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7772400" y="265176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 Differentiator 1 ]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7772400" y="320040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 Differentiator 2 ]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772400" y="3749040"/>
            <a:ext cx="3931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— [ Differentiator 3 ]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How you'll acquire customers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2377440"/>
            <a:ext cx="3611880" cy="31089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32004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Channel / tactic 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89120" y="2377440"/>
            <a:ext cx="3611880" cy="3108960"/>
          </a:xfrm>
          <a:prstGeom prst="rect">
            <a:avLst/>
          </a:prstGeom>
          <a:solidFill>
            <a:srgbClr val="142A40"/>
          </a:solidFill>
          <a:ln/>
        </p:spPr>
      </p:sp>
      <p:sp>
        <p:nvSpPr>
          <p:cNvPr id="8" name="Text 6"/>
          <p:cNvSpPr/>
          <p:nvPr/>
        </p:nvSpPr>
        <p:spPr>
          <a:xfrm>
            <a:off x="466344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6 months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63440" y="32004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Channel / tactic ]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0" y="2377440"/>
            <a:ext cx="3611880" cy="3108960"/>
          </a:xfrm>
          <a:prstGeom prst="rect">
            <a:avLst/>
          </a:prstGeom>
          <a:solidFill>
            <a:srgbClr val="142A40"/>
          </a:solidFill>
          <a:ln/>
        </p:spPr>
      </p:sp>
      <p:sp>
        <p:nvSpPr>
          <p:cNvPr id="11" name="Text 9"/>
          <p:cNvSpPr/>
          <p:nvPr/>
        </p:nvSpPr>
        <p:spPr>
          <a:xfrm>
            <a:off x="8503920" y="2651760"/>
            <a:ext cx="3063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12+ months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503920" y="3200400"/>
            <a:ext cx="3063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4DFD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Channel / tactic ]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Why you're the team to back ]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2286000"/>
            <a:ext cx="1005840" cy="1005840"/>
          </a:xfrm>
          <a:prstGeom prst="ellipse">
            <a:avLst/>
          </a:prstGeom>
          <a:solidFill>
            <a:srgbClr val="E4DFD3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3429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Name ]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" y="37490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Role ]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41148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 — relevant background ]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4480560" y="2286000"/>
            <a:ext cx="1005840" cy="1005840"/>
          </a:xfrm>
          <a:prstGeom prst="ellipse">
            <a:avLst/>
          </a:prstGeom>
          <a:solidFill>
            <a:srgbClr val="E4DFD3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06240" y="3429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Name ]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206240" y="37490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Role ]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206240" y="41148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 — relevant background ]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8321040" y="2286000"/>
            <a:ext cx="1005840" cy="1005840"/>
          </a:xfrm>
          <a:prstGeom prst="ellipse">
            <a:avLst/>
          </a:prstGeom>
          <a:solidFill>
            <a:srgbClr val="E4DFD3"/>
          </a:solidFill>
          <a:ln w="19050">
            <a:solidFill>
              <a:srgbClr val="C9A22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0" y="3429000"/>
            <a:ext cx="3886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Name ]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046720" y="3749040"/>
            <a:ext cx="3886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7A1E3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Role ]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046720" y="4114800"/>
            <a:ext cx="38862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5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One line — relevant background ]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FINANCIAL PROJECTIONS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Revenue forecast, 3 years ]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640080" y="2103120"/>
          <a:ext cx="694944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786384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1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877824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2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692640" y="237744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Year 3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7863840" y="29260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923544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$X ]k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1014984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$X ]k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11064240" y="292608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$X ]k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863840" y="34747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Gross Margin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23544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X ]%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1014984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X ]%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11064240" y="3474720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X ]%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2E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ASK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07899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B1B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Raising $[ X ] to [ achieve key milestone ]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640080" y="2377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]%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40080" y="32461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Use of funds 1 ]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343400" y="2377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]%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4343400" y="32461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Use of funds 2 ]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0" y="2377440"/>
            <a:ext cx="3520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7A1E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[ X ]%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046720" y="3246120"/>
            <a:ext cx="3337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0B1B2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Use of funds 3 ]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4572000"/>
            <a:ext cx="107899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i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gets us to: [ the specific milestone this round unlocks — e.g. 500 paying members / break-even / Series A readiness ]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B1B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651760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C9A2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YOUR COMPANY NAME ]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822960" y="3108960"/>
            <a:ext cx="9144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you.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42062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C2B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 Founder Name ]  ·  [ email ]  ·  [ phone ]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2026-08-18T07:42:19Z</dcterms:created>
  <dcterms:modified xsi:type="dcterms:W3CDTF">2026-08-18T07:42:19Z</dcterms:modified>
</cp:coreProperties>
</file>